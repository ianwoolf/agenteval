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79aef4ad974c67" /><Relationship Type="http://schemas.openxmlformats.org/officeDocument/2006/relationships/extended-properties" Target="/docProps/app.xml" Id="Rd23a48be77cf4326" /><Relationship Type="http://schemas.openxmlformats.org/officeDocument/2006/relationships/officeDocument" Target="/ppt/presentation.xml" Id="R9e69d8d9b4f945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1ecfab1c3a4685"/>
  </p:sldMasterIdLst>
  <p:notesMasterIdLst>
    <p:notesMasterId xmlns:r="http://schemas.openxmlformats.org/officeDocument/2006/relationships" r:id="R282f7daa84774053"/>
  </p:notesMasterIdLst>
  <p:sldIdLst>
    <p:sldId xmlns:r="http://schemas.openxmlformats.org/officeDocument/2006/relationships" id="256" r:id="R5386fb30bb8b4b4f"/>
    <p:sldId xmlns:r="http://schemas.openxmlformats.org/officeDocument/2006/relationships" id="257" r:id="Re7f62cf3e55e451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ac136ba04f480a" /><Relationship Type="http://schemas.openxmlformats.org/officeDocument/2006/relationships/slideMaster" Target="/ppt/slideMasters/slideMaster1.xml" Id="R131ecfab1c3a4685" /><Relationship Type="http://schemas.openxmlformats.org/officeDocument/2006/relationships/notesMaster" Target="/ppt/notesMasters/notesMaster1.xml" Id="R282f7daa84774053" /><Relationship Type="http://schemas.openxmlformats.org/officeDocument/2006/relationships/presProps" Target="/ppt/presProps.xml" Id="R64a8ec4e96614ead" /><Relationship Type="http://schemas.openxmlformats.org/officeDocument/2006/relationships/tableStyles" Target="/ppt/tableStyles.xml" Id="R25c76015439f498d" /><Relationship Type="http://schemas.openxmlformats.org/officeDocument/2006/relationships/slide" Target="/ppt/slides/slide1.xml" Id="R5386fb30bb8b4b4f" /><Relationship Type="http://schemas.openxmlformats.org/officeDocument/2006/relationships/slide" Target="/ppt/slides/slide2.xml" Id="Re7f62cf3e55e45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a768a3f0d545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efcf48163545b0" /><Relationship Type="http://schemas.openxmlformats.org/officeDocument/2006/relationships/notesMaster" Target="/ppt/notesMasters/notesMaster1.xml" Id="Rcefa42aa05cd42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76a24ce7074eae" /><Relationship Type="http://schemas.openxmlformats.org/officeDocument/2006/relationships/notesMaster" Target="/ppt/notesMasters/notesMaster1.xml" Id="R20f681597a6d4b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当前运行：Runner CLI 生成 experiment_id 并注入环境，WSL OpenShell Gateway 使用 Docker 计算驱动。Runtime 内 worker 读取 Langfuse Dataset，执行 target/scorer。Evaluation 表示后端配置职责：模型解析接口已实现，完整任务配置读取 API 待实现，目前运行参数由 CLI/环境变量注入。Runner 读取运行配置的线表达职责及参数流。LLM Gateway 当前为容器内 OpenAI 兼容代理，每次按 model_id 查询 Evaluation 的 address/model/token，再真实调用服务商。Guardrail Gateway 属于拟接入组件，本次未实现。UI Trigger 仍为模拟。虚线清楚标注待接入部分。Langfuse 读取 Dataset 和写入 score/OTEL 使用两条独立线路。模型实际调用结果和评分与全部遥测共享 experiment_id。来源：src/evaluation_backend/openshell_runner.py、worker.py、llm_proxy.py、models.py、docs/openshell-worker.md。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当前真实链路由 CLI 触发。EXPERIMENT_ID、EVALUATE_ID、EVALUATION_ID 使用同一个值。Target 只接收 input，标准答案交给 scorer。已有真实验证采用 mock-score 固定返回 1 分，用于验证上报，不代表模型质量。来源：src/evaluation_backend/experiment.py、worker.py、platforms/langfuse.py。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16054e5e09474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f2d453fbbe402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57bf9a7930498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aa9c5bc363470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ebf38267b3418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a8c68a8b374a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74F8063-5081-4FB5-B439-9BEB60DD39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8D0706C-302A-4A79-AEB4-5C0F5B709C3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7184318-FC6E-46BB-B7C7-94555E91DE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51917CF-D027-4739-B017-167756E1E3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F767B32-15A7-4FD3-A43C-7ACEADC0930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CC37144-AF5D-4158-BC63-D28DF2DCF9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823E5AD-DB24-4698-93FD-DE33F91AC5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8D00F6F-8A86-41D7-8A78-062FF551019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E21719A-858C-467A-B5BD-740EE9DA11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4353435-6B23-4320-BE07-D4AFB8D4A9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5cad8cab2a43bd" /><Relationship Type="http://schemas.openxmlformats.org/officeDocument/2006/relationships/slideLayout" Target="/ppt/slideLayouts/slideLayout1.xml" Id="R62988b57a42f4208" /><Relationship Type="http://schemas.openxmlformats.org/officeDocument/2006/relationships/slideLayout" Target="/ppt/slideLayouts/slideLayout2.xml" Id="R2f077d6834194e5c" /><Relationship Type="http://schemas.openxmlformats.org/officeDocument/2006/relationships/slideLayout" Target="/ppt/slideLayouts/slideLayout3.xml" Id="Rd452523a4acd43b9" /><Relationship Type="http://schemas.openxmlformats.org/officeDocument/2006/relationships/slideLayout" Target="/ppt/slideLayouts/slideLayout4.xml" Id="R75972c1a0cd943fd" /><Relationship Type="http://schemas.openxmlformats.org/officeDocument/2006/relationships/slideLayout" Target="/ppt/slideLayouts/slideLayout5.xml" Id="R0f19a1637b524286" /><Relationship Type="http://schemas.openxmlformats.org/officeDocument/2006/relationships/slideLayout" Target="/ppt/slideLayouts/slideLayout6.xml" Id="R98646683f9a84b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988b57a42f4208"/>
    <p:sldLayoutId xmlns:r="http://schemas.openxmlformats.org/officeDocument/2006/relationships" id="2147483650" r:id="R2f077d6834194e5c"/>
    <p:sldLayoutId xmlns:r="http://schemas.openxmlformats.org/officeDocument/2006/relationships" id="2147483651" r:id="Rd452523a4acd43b9"/>
    <p:sldLayoutId xmlns:r="http://schemas.openxmlformats.org/officeDocument/2006/relationships" id="2147483652" r:id="R75972c1a0cd943fd"/>
    <p:sldLayoutId xmlns:r="http://schemas.openxmlformats.org/officeDocument/2006/relationships" id="2147483653" r:id="R0f19a1637b524286"/>
    <p:sldLayoutId xmlns:r="http://schemas.openxmlformats.org/officeDocument/2006/relationships" id="2147483654" r:id="R98646683f9a84b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52240077b44d96" /><Relationship Type="http://schemas.openxmlformats.org/officeDocument/2006/relationships/notesSlide" Target="/ppt/notesSlides/notesSlide1.xml" Id="R8c7d7cf63b6341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4aac726f1c460c" /><Relationship Type="http://schemas.openxmlformats.org/officeDocument/2006/relationships/notesSlide" Target="/ppt/notesSlides/notesSlide2.xml" Id="R0fede3270c364c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20B444-5365-4BDF-9143-F6FB0A78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rPr>
              <a:t>测评架构与交互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130C7B-09E2-4DC3-9FE5-9DC8A314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Runner 读取运行配置与 Dataset，通过网关执行请求并将结果上报 Langfuse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399518-2065-4BAD-818D-2F57FEF3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AgentEval   2026.10.20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8025A3-5E43-45DD-B166-E8DDBFE78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1BEBA2-3994-4B90-A8E7-1DDCDC52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10109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96A1AF"/>
            </a:solidFill>
            <a:prstDash val="dash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4712D2-77DB-46A1-9633-6033F2BF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766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rPr>
              <a:t>OpenShell / Runtime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A618F9-F811-4A0D-A861-77DE5C86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190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6A1AF"/>
            </a:solidFill>
            <a:prstDash val="dash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B8F97C-2DB0-43F8-B8C7-3507BB8E4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885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96A1A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96A1A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96A1A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96A1A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96A1A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96A1A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96A1A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96A1A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96A1A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96A1A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96A1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96A1AF"/>
                </a:solidFill>
                <a:latin typeface="Microsoft YaHei"/>
                <a:ea typeface="Microsoft YaHei"/>
                <a:cs typeface="Microsoft YaHei"/>
              </a:rPr>
              <a:t>UI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646DCF-26E6-4540-BBEA-8D966762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1885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Evaluation 配置与触发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2E9828-F6C9-4D8E-91B5-50FEB4D0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714500"/>
            <a:ext cx="3333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15FB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71C274-D3E4-4FC4-B43B-EFACA1AB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809750"/>
            <a:ext cx="3028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rPr>
              <a:t>Evaluation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313A7C-8123-4616-B30B-23651929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181225"/>
            <a:ext cx="302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运行参数 / 模型 ID 配置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C4267C-627D-44EC-AD3A-241E08C58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14500"/>
            <a:ext cx="2571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1745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8AE9C8-9BC4-43EA-A036-87CBB147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809750"/>
            <a:ext cx="2266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rPr>
              <a:t>Langfuse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98F3CF-46A0-467E-AFBD-8895564F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81225"/>
            <a:ext cx="2266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Dataset / Score / OTEL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3341F5-E7BF-45E8-986B-B3BAC0DA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48125"/>
            <a:ext cx="33337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15FB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68F891-6085-4046-A0B3-0B7A2885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143375"/>
            <a:ext cx="3028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rPr>
              <a:t>Evaluation Runner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77ED1D-DAAD-4E18-8659-7146D134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514850"/>
            <a:ext cx="30289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读取样本，执行 Target 与 Scorer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42763C-DBEB-4614-A0C6-FC709E13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24250"/>
            <a:ext cx="2571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15FB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D53F1B-240C-40E8-986E-810BFA6F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619500"/>
            <a:ext cx="2266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rPr>
              <a:t>LLM Gateway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9863FB-85F7-4922-9545-E0CF2847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90975"/>
            <a:ext cx="2266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容器内代理，访问模型服务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379DD3-5172-4AF3-BF60-01426497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810125"/>
            <a:ext cx="2571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96A1AF"/>
            </a:solidFill>
            <a:prstDash val="dash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9F5D5B-A899-4E79-B0FD-EC80A1AB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905375"/>
            <a:ext cx="2266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96A1A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96A1A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96A1A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96A1A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96A1A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96A1A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96A1A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96A1A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96A1A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96A1A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96A1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96A1AF"/>
                </a:solidFill>
                <a:latin typeface="Microsoft YaHei"/>
                <a:ea typeface="Microsoft YaHei"/>
                <a:cs typeface="Microsoft YaHei"/>
              </a:rPr>
              <a:t>Guardrail Gateway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6DB1B3-23CF-4383-97B7-EAB2D454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276850"/>
            <a:ext cx="22669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转发 Guardrail 请求</a:t>
            </a:r>
          </a:p>
        </p:txBody>
      </p: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FA41B3-52D7-4059-8964-347200A7E9D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800350" y="2143125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6A1AF"/>
            </a:solidFill>
            <a:prstDash val="dash"/>
            <a:headEnd type="none" w="med" len="med"/>
            <a:tail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8E7739-C185-4CD0-A3C2-3DE8217B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1790700"/>
            <a:ext cx="11239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配置 / 触发</a:t>
            </a:r>
          </a:p>
        </p:txBody>
      </p: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95C82E-917A-4FEA-8146-8E2D95BA70E3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5667375" y="2571750"/>
            <a:ext cx="0" cy="1476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BB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A1ADFD-3353-4B30-9A16-D3ADFDFD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809875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rPr>
              <a:t>读取运行配置</a:t>
            </a:r>
          </a:p>
          <a:p xmlns:a="http://schemas.openxmlformats.org/drawingml/2006/main">
            <a:pPr algn="l">
              <a:defRPr sz="150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rPr>
              <a:t>CLI / 环境变量</a:t>
            </a:r>
          </a:p>
        </p:txBody>
      </p: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DC1736-C6D6-42FA-8099-A1E1D4D029C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334625" y="2571750"/>
            <a:ext cx="0" cy="3524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45F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6AA938-7A68-47FE-B2AF-012117E94AFE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7715250" y="2924175"/>
            <a:ext cx="2619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45F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A363CE-4FFE-4BAC-B3F2-A77AAA8D30D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715250" y="2924175"/>
            <a:ext cx="0" cy="1352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45F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D650E0-9E56-4F73-9880-2026942F0B36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7334250" y="42767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45F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D40510-2151-4778-8A74-FDE79384C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66700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rPr>
              <a:t>读取 Dataset</a:t>
            </a:r>
          </a:p>
        </p:txBody>
      </p: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55E851-D351-44E2-868B-414E16D4D79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334250" y="4572000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BB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1D49E6-7E69-490E-86AD-BF645528893F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8143875" y="3924300"/>
            <a:ext cx="0" cy="647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BB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21BD556-8C56-4FB1-91CF-41B6856B49F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143875" y="3924300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BB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B84421-5BD9-40AB-BBBE-3EDC4ACD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29025"/>
            <a:ext cx="1562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rPr>
              <a:t>LLM 请求</a:t>
            </a:r>
          </a:p>
        </p:txBody>
      </p: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A0211A-D0D2-4FF6-B998-E4E5927415D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334250" y="4895850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6A1AF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9505077-8390-476E-96A6-2B7E69E1674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143875" y="4895850"/>
            <a:ext cx="0" cy="323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6A1AF"/>
            </a:solidFill>
            <a:prstDash val="dash"/>
            <a:headEnd type="none" w="med" len="med"/>
            <a:tailEnd type="none" w="med" len="med"/>
          </a:ln>
        </p:spPr>
      </p:cxn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E205291-024E-4C0D-B349-3753B39315E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143875" y="5219700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6A1AF"/>
            </a:solidFill>
            <a:prstDash val="dash"/>
            <a:headEnd type="none" w="med" len="med"/>
            <a:tailEnd type="arrow" w="med" len="med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8F5EA8F-D443-4CB7-A5C2-A73A751E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5305425"/>
            <a:ext cx="1638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Guardrail 请求</a:t>
            </a:r>
          </a:p>
        </p:txBody>
      </p:sp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42C2DDA-B77E-4C69-A6E6-D826115BDB06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8572500" y="37147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BB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312F21B-1861-430E-B0D7-A92DA627C8F3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8572500" y="2381250"/>
            <a:ext cx="0" cy="1333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BB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BEAC7C3-8FE8-4EE6-AB44-46E3576ACE3F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7334250" y="2381250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BB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96B9255-5ABE-4BD6-9F72-BAD45241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09850"/>
            <a:ext cx="1095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rPr>
              <a:t>查询模型详情</a:t>
            </a:r>
          </a:p>
        </p:txBody>
      </p:sp>
      <p:cxnSp>
        <p:nvCxn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940D5CA-BE76-4542-BA6C-DA9B1E6D168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667375" y="5048250"/>
            <a:ext cx="0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45F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A1735EE-1F43-49F9-9880-0E42E0624AB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667375" y="5981700"/>
            <a:ext cx="6143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45F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8A90105-D445-4ABD-9718-77BD6FB3F754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1811000" y="2143125"/>
            <a:ext cx="0" cy="3838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45F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E864BE7-EAE2-4030-87BF-F5B76DFFE98A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11620500" y="2143125"/>
            <a:ext cx="19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1745F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DFB14C0-28A9-4D1A-ABDC-3C75E4CA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0198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7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7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7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7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7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7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7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7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7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1745F"/>
                </a:solidFill>
                <a:latin typeface="Microsoft YaHei"/>
                <a:ea typeface="Microsoft YaHei"/>
                <a:cs typeface="Microsoft YaHei"/>
              </a:rPr>
              <a:t>写入 Score / OTEL，统一 experiment_id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EFC4F3D-281E-4C27-8166-0B2420C0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528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虚线：待接入的 UI Trigger、Guardrail Gateway</a:t>
            </a:r>
          </a:p>
        </p:txBody>
      </p:sp>
    </p:spTree>
    <p:extLst>
      <p:ext uri="{BB962C8B-B14F-4D97-AF65-F5344CB8AC3E}">
        <p14:creationId xmlns:p14="http://schemas.microsoft.com/office/powerpoint/2010/main" val="2803065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6F8514-C738-4621-BD6E-52AEF526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rPr>
              <a:t>一次测评的执行流程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2F0402-7351-417D-9906-EFA5C14C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一次触发生成一个 experiment_id，贯穿运行环境、OTEL 与评分结果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8432B-8536-4345-BC75-71F6E499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AgentEval   2026.10.20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C082B0-A507-4249-94B4-9E637163E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956728-8153-423C-8F9F-7BEBED9E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38325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6AE51B-438B-41A3-BB27-ADC45718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1838325"/>
            <a:ext cx="276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rPr>
              <a:t>触发与参数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758984-3312-4831-9E17-5B8B619B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57375"/>
            <a:ext cx="695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生成 ID，确定 Dataset、模型 ID、评分器和执行环境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278656-FF92-4AB5-87DE-214BFBE34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657475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627916-544A-4084-9713-9C7A9254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2657475"/>
            <a:ext cx="276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rPr>
              <a:t>创建运行环境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86447F-9E63-42AA-9FB8-AEBBE34C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76525"/>
            <a:ext cx="695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OpenShell 创建沙箱，上传环境配置并启动 worker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734F74-BC2D-477A-B646-ADB1FD83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476625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A39B99-B8E8-47A9-8D6B-D883CB7B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476625"/>
            <a:ext cx="276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rPr>
              <a:t>加载数据与评分器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311526-C76A-488F-A83B-F189AD82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495675"/>
            <a:ext cx="695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按 dataset_id 从 Langfuse 读取样本，加载 scorer library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BC9710-CA9B-44E5-BE2C-0AC4A143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295775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27869F-C2AD-454E-9C9B-3188E998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4295775"/>
            <a:ext cx="276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rPr>
              <a:t>逐条执行与评分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060107-3C2F-40B4-99EE-B8457F8C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314825"/>
            <a:ext cx="695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Target 经网关请求模型，评分器接收输出与标准答案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ADC2C3-5159-4D62-8E6D-A8FD26397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114925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15FB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ED2325-18DA-4352-BDEE-9CEDF998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114925"/>
            <a:ext cx="276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263D"/>
                </a:solidFill>
                <a:latin typeface="Microsoft YaHei"/>
                <a:ea typeface="Microsoft YaHei"/>
                <a:cs typeface="Microsoft YaHei"/>
              </a:rPr>
              <a:t>上报与结束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ED07E7-8A9F-4C96-97F6-C2457058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133975"/>
            <a:ext cx="695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27185"/>
                </a:solidFill>
                <a:latin typeface="Microsoft YaHei"/>
                <a:ea typeface="Microsoft YaHei"/>
                <a:cs typeface="Microsoft YaHei"/>
              </a:rPr>
              <a:t>发送 Score 和 OTEL，返回状态，成功后自动清理沙箱</a:t>
            </a:r>
          </a:p>
        </p:txBody>
      </p:sp>
    </p:spTree>
    <p:extLst>
      <p:ext uri="{BB962C8B-B14F-4D97-AF65-F5344CB8AC3E}">
        <p14:creationId xmlns:p14="http://schemas.microsoft.com/office/powerpoint/2010/main" val="16816182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2026-10-20T05:17:14.0270000Z</dcterms:created>
  <dcterms:modified xsi:type="dcterms:W3CDTF">2026-10-20T05:17:14.0270000Z</dcterms:modified>
</coreProperties>
</file>