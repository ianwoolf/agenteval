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efa5ddd7a0d46ce" /><Relationship Type="http://schemas.openxmlformats.org/officeDocument/2006/relationships/extended-properties" Target="/docProps/app.xml" Id="R51cb1cc456f246df" /><Relationship Type="http://schemas.openxmlformats.org/officeDocument/2006/relationships/officeDocument" Target="/ppt/presentation.xml" Id="R96535f4785594f3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acc33250adf4e10"/>
  </p:sldMasterIdLst>
  <p:notesMasterIdLst>
    <p:notesMasterId xmlns:r="http://schemas.openxmlformats.org/officeDocument/2006/relationships" r:id="R2167f5f387234bee"/>
  </p:notesMasterIdLst>
  <p:sldIdLst>
    <p:sldId xmlns:r="http://schemas.openxmlformats.org/officeDocument/2006/relationships" id="256" r:id="R080d8714a7684aaf"/>
    <p:sldId xmlns:r="http://schemas.openxmlformats.org/officeDocument/2006/relationships" id="257" r:id="Rca4c43abad23441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c338a27e5014da2" /><Relationship Type="http://schemas.openxmlformats.org/officeDocument/2006/relationships/slideMaster" Target="/ppt/slideMasters/slideMaster1.xml" Id="R0acc33250adf4e10" /><Relationship Type="http://schemas.openxmlformats.org/officeDocument/2006/relationships/notesMaster" Target="/ppt/notesMasters/notesMaster1.xml" Id="R2167f5f387234bee" /><Relationship Type="http://schemas.openxmlformats.org/officeDocument/2006/relationships/presProps" Target="/ppt/presProps.xml" Id="R40f5c743cff348b6" /><Relationship Type="http://schemas.openxmlformats.org/officeDocument/2006/relationships/tableStyles" Target="/ppt/tableStyles.xml" Id="R4917fe3cb61b470e" /><Relationship Type="http://schemas.openxmlformats.org/officeDocument/2006/relationships/slide" Target="/ppt/slides/slide1.xml" Id="R080d8714a7684aaf" /><Relationship Type="http://schemas.openxmlformats.org/officeDocument/2006/relationships/slide" Target="/ppt/slides/slide2.xml" Id="Rca4c43abad23441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eb35433a01b4e2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3cada07126c478f" /><Relationship Type="http://schemas.openxmlformats.org/officeDocument/2006/relationships/notesMaster" Target="/ppt/notesMasters/notesMaster1.xml" Id="Ra4ba5a221ef64a1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8e0cdaaab094c61" /><Relationship Type="http://schemas.openxmlformats.org/officeDocument/2006/relationships/notesMaster" Target="/ppt/notesMasters/notesMaster1.xml" Id="Rbbccdbfe14ce4ea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Current implementation: CLI creates the experiment_id and injects run configuration via environment variables. UI trigger integration remains pending. Evaluation exposes the model resolver; a complete HTTP evaluation-trigger/configuration API remains future work. The runner reads Dataset from Langfuse and publishes Score plus OTEL with the same experiment_id. LLM Gateway is currently a container-local proxy. Its placement below Runtime on this slide is logical layering requested for the architecture view, not a claim that the proxy has moved into a separate deployed service. Guardrail Gateway is planned. Sources: independent backend docs/openshell-worker.md, docs/llm-proxy.md, src/evaluation_backend/worker.py, models.py and llm_proxy.py. No infrastructure version or legend is shown.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current real test used the CLI, glm-dev, six real Langfuse Dataset items and the explicit mock-score library. Mock scores validate delivery and do not measure model quality. The UI trigger and Guardrail Gateway remain planned. Sources: src/evaluation_backend/openshell_runner.py, experiment.py, worker.py and platforms/langfuse.py.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ba885be9e14b0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2a51c3d9a44ca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bd925e987e4c0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8ebd754033494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82527687754a5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2963fec0304de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74F8063-5081-4FB5-B439-9BEB60DD39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8D0706C-302A-4A79-AEB4-5C0F5B709C3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7184318-FC6E-46BB-B7C7-94555E91DE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51917CF-D027-4739-B017-167756E1E3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F767B32-15A7-4FD3-A43C-7ACEADC0930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CC37144-AF5D-4158-BC63-D28DF2DCF9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823E5AD-DB24-4698-93FD-DE33F91AC54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8D00F6F-8A86-41D7-8A78-062FF551019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E21719A-858C-467A-B5BD-740EE9DA11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4353435-6B23-4320-BE07-D4AFB8D4A98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d1b40489449477c" /><Relationship Type="http://schemas.openxmlformats.org/officeDocument/2006/relationships/slideLayout" Target="/ppt/slideLayouts/slideLayout1.xml" Id="Rc5a0ffc86b3c44ce" /><Relationship Type="http://schemas.openxmlformats.org/officeDocument/2006/relationships/slideLayout" Target="/ppt/slideLayouts/slideLayout2.xml" Id="R81b7560a3a804e4b" /><Relationship Type="http://schemas.openxmlformats.org/officeDocument/2006/relationships/slideLayout" Target="/ppt/slideLayouts/slideLayout3.xml" Id="R54b74462fafa44e3" /><Relationship Type="http://schemas.openxmlformats.org/officeDocument/2006/relationships/slideLayout" Target="/ppt/slideLayouts/slideLayout4.xml" Id="R86473002f33c482d" /><Relationship Type="http://schemas.openxmlformats.org/officeDocument/2006/relationships/slideLayout" Target="/ppt/slideLayouts/slideLayout5.xml" Id="Rc29e654bc8654d06" /><Relationship Type="http://schemas.openxmlformats.org/officeDocument/2006/relationships/slideLayout" Target="/ppt/slideLayouts/slideLayout6.xml" Id="R13dfc00a21cd429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5a0ffc86b3c44ce"/>
    <p:sldLayoutId xmlns:r="http://schemas.openxmlformats.org/officeDocument/2006/relationships" id="2147483650" r:id="R81b7560a3a804e4b"/>
    <p:sldLayoutId xmlns:r="http://schemas.openxmlformats.org/officeDocument/2006/relationships" id="2147483651" r:id="R54b74462fafa44e3"/>
    <p:sldLayoutId xmlns:r="http://schemas.openxmlformats.org/officeDocument/2006/relationships" id="2147483652" r:id="R86473002f33c482d"/>
    <p:sldLayoutId xmlns:r="http://schemas.openxmlformats.org/officeDocument/2006/relationships" id="2147483653" r:id="Rc29e654bc8654d06"/>
    <p:sldLayoutId xmlns:r="http://schemas.openxmlformats.org/officeDocument/2006/relationships" id="2147483654" r:id="R13dfc00a21cd429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ac7c31d2094251" /><Relationship Type="http://schemas.openxmlformats.org/officeDocument/2006/relationships/notesSlide" Target="/ppt/notesSlides/notesSlide1.xml" Id="R1ec0b300d1364d6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ff822eb8ea4a08" /><Relationship Type="http://schemas.openxmlformats.org/officeDocument/2006/relationships/notesSlide" Target="/ppt/notesSlides/notesSlide2.xml" Id="Rc5a563f6b60a49d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A68191-24F7-4084-9BF0-02994E840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rPr>
              <a:t>Evaluation Architecture &amp; Interactions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A529B3-9C8E-4C60-9C02-05099D00A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rPr>
              <a:t>Runner loads configuration and datasets. Gateways handle model and Guardrail requests.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320E02-B8C4-4ECE-93E4-728637764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2571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96A1AF"/>
            </a:solidFill>
            <a:prstDash val="dash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646D91-ABB1-4B68-98E8-63C85A443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2266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96A1A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96A1A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96A1A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96A1A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96A1A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96A1A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96A1A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96A1A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96A1A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96A1A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96A1A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96A1AF"/>
                </a:solidFill>
                <a:latin typeface="Microsoft YaHei"/>
                <a:ea typeface="Microsoft YaHei"/>
                <a:cs typeface="Microsoft YaHei"/>
              </a:rPr>
              <a:t>UI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DA962B-EBE4-4B93-A1EA-B6BF183D9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81225"/>
            <a:ext cx="2266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rPr>
              <a:t>Trigger integration pending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A51317-F8BF-43DF-BB9C-23421325C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714500"/>
            <a:ext cx="3429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15FB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5BFE0E-4F34-4928-85C0-6D0EC5EA9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809750"/>
            <a:ext cx="3124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rPr>
              <a:t>Evaluation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569DD1-11A3-4DCF-B41F-02C827B9B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181225"/>
            <a:ext cx="3124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rPr>
              <a:t>Run settings and model registry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2BEDF4-5D7A-4112-8B70-5259540A4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10109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6A1AF"/>
            </a:solidFill>
            <a:prstDash val="dash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1EB71A-6D00-415A-97F1-B9194EB12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90875"/>
            <a:ext cx="3000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rPr>
              <a:t>OpenShell / Runtime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D8282A-4154-4DA6-957A-03A4A92A1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476625"/>
            <a:ext cx="3429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15FB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5AF55C-4B7D-4294-8DF7-9489ABD93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571875"/>
            <a:ext cx="3124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rPr>
              <a:t>Evaluation Runner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99D4C0-AAD8-41CB-9FE5-6249695A3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943350"/>
            <a:ext cx="3124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rPr>
              <a:t>Load samples, run Target and Scorer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A11570-2842-4DF1-BD25-3D6F17699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2857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1745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7D9DBD-F4D3-4AA1-A816-4AA5CACF8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76875"/>
            <a:ext cx="2552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21745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21745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21745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21745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21745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21745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21745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21745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21745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2174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174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1745F"/>
                </a:solidFill>
                <a:latin typeface="Microsoft YaHei"/>
                <a:ea typeface="Microsoft YaHei"/>
                <a:cs typeface="Microsoft YaHei"/>
              </a:rPr>
              <a:t>Langfuse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6616F5-DD13-4507-A2A3-486D86BD2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48350"/>
            <a:ext cx="2552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rPr>
              <a:t>Datasets, experiments, Score, OTEL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42C8D7-1696-4B74-9C28-45DB28644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381625"/>
            <a:ext cx="2857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15FB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302778-E46C-4E0D-AA61-6CA547FA9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476875"/>
            <a:ext cx="2552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rPr>
              <a:t>LLM Gateway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AFD207-40EB-4C25-8F17-6C50E08B9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848350"/>
            <a:ext cx="2552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rPr>
              <a:t>Local proxy for model requests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01BA87-FC5E-469C-AA1C-8719F4AF5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381625"/>
            <a:ext cx="2857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96A1AF"/>
            </a:solidFill>
            <a:prstDash val="dash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8DCFCA-A46E-4229-8DD4-5265780C1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476875"/>
            <a:ext cx="2552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96A1A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96A1A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96A1A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96A1A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96A1A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96A1A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96A1A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96A1A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96A1A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96A1A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96A1A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96A1AF"/>
                </a:solidFill>
                <a:latin typeface="Microsoft YaHei"/>
                <a:ea typeface="Microsoft YaHei"/>
                <a:cs typeface="Microsoft YaHei"/>
              </a:rPr>
              <a:t>Guardrail Gateway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C0200B-5756-4C18-BDB2-6B099CB38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848350"/>
            <a:ext cx="2552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rPr>
              <a:t>Guardrail routing (planned)</a:t>
            </a:r>
          </a:p>
        </p:txBody>
      </p: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37CEF2-5809-45BD-ADCB-82D2A5B8306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181350" y="2143125"/>
            <a:ext cx="1200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6A1AF"/>
            </a:solidFill>
            <a:prstDash val="dash"/>
            <a:tailEnd type="arrow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E38F25-A302-4AC1-AC32-07AC12640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8478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rPr>
              <a:t>Trigger</a:t>
            </a:r>
          </a:p>
        </p:txBody>
      </p: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177211-46B0-43C8-83BC-390B016F0E9E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6096000" y="2571750"/>
            <a:ext cx="0" cy="904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BB"/>
            </a:solidFill>
            <a:prstDash val="solid"/>
            <a:tailEnd type="arrow" w="med" len="me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E3F1EE-0130-4944-882E-B3940EAB5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527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rPr>
              <a:t>Read run config</a:t>
            </a:r>
          </a:p>
        </p:txBody>
      </p: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E3E156-5304-4265-A7EF-96BF3D0C0A74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2038350" y="3952875"/>
            <a:ext cx="0" cy="1428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45F"/>
            </a:solidFill>
            <a:prstDash val="solid"/>
            <a:tailEnd type="none" w="med" len="med"/>
          </a:ln>
        </p:spPr>
      </p:cxnSp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EFFC11-68A4-4C4A-B7C4-0985D6D29E7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038350" y="3952875"/>
            <a:ext cx="2343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45F"/>
            </a:solidFill>
            <a:prstDash val="solid"/>
            <a:tailEnd type="arrow" w="med" len="med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8B78FCD-996D-4FB5-B9EC-0DFAB05C2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0957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21745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1">
                <a:solidFill>
                  <a:srgbClr val="21745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1">
                <a:solidFill>
                  <a:srgbClr val="21745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1">
                <a:solidFill>
                  <a:srgbClr val="21745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1">
                <a:solidFill>
                  <a:srgbClr val="21745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1">
                <a:solidFill>
                  <a:srgbClr val="21745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1">
                <a:solidFill>
                  <a:srgbClr val="21745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1">
                <a:solidFill>
                  <a:srgbClr val="21745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1">
                <a:solidFill>
                  <a:srgbClr val="21745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1">
                <a:solidFill>
                  <a:srgbClr val="2174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174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1745F"/>
                </a:solidFill>
                <a:latin typeface="Microsoft YaHei"/>
                <a:ea typeface="Microsoft YaHei"/>
                <a:cs typeface="Microsoft YaHei"/>
              </a:rPr>
              <a:t>Read Dataset</a:t>
            </a:r>
          </a:p>
        </p:txBody>
      </p:sp>
      <p:cxnSp>
        <p:nvCxn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E30737B-9F1C-43ED-9FBA-51A68AFF78C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096000" y="4429125"/>
            <a:ext cx="0" cy="952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BB"/>
            </a:solidFill>
            <a:prstDash val="solid"/>
            <a:tailEnd type="arrow" w="med" len="med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A0D647D-CC15-4D78-84EF-1C420DFAB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8577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rPr>
              <a:t>LLM request</a:t>
            </a:r>
          </a:p>
        </p:txBody>
      </p:sp>
      <p:cxnSp>
        <p:nvCxn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F731F57-3DE5-46EA-AED0-2520CB34841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810500" y="3952875"/>
            <a:ext cx="2381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6A1AF"/>
            </a:solidFill>
            <a:prstDash val="dash"/>
            <a:tailEnd type="none" w="med" len="med"/>
          </a:ln>
        </p:spPr>
      </p:cxnSp>
      <p:cxnSp>
        <p:nvCxn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BA2EC77-73B4-451C-96B6-36006FFE030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191750" y="3952875"/>
            <a:ext cx="0" cy="1428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6A1AF"/>
            </a:solidFill>
            <a:prstDash val="dash"/>
            <a:tailEnd type="arrow" w="med" len="med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4D9589-325C-48C2-82D1-7A86A54D7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4886325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rPr>
              <a:t>Guardrail request</a:t>
            </a:r>
          </a:p>
        </p:txBody>
      </p:sp>
      <p:cxnSp>
        <p:nvCxn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AFAC706-5303-4B39-9BAB-75E938E8ED3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429250" y="4429125"/>
            <a:ext cx="0" cy="4667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45F"/>
            </a:solidFill>
            <a:prstDash val="solid"/>
            <a:tailEnd type="none" w="med" len="med"/>
          </a:ln>
        </p:spPr>
      </p:cxnSp>
      <p:cxnSp>
        <p:nvCxn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BCD9C4E-EB07-4E46-9F38-E0D023F4FE05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3714750" y="4895850"/>
            <a:ext cx="1714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45F"/>
            </a:solidFill>
            <a:prstDash val="solid"/>
            <a:tailEnd type="none" w="med" len="med"/>
          </a:ln>
        </p:spPr>
      </p:cxnSp>
      <p:cxnSp>
        <p:nvCxn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C187C05-F403-48A6-8097-B6DAE81CE15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714750" y="4895850"/>
            <a:ext cx="0" cy="9620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45F"/>
            </a:solidFill>
            <a:prstDash val="solid"/>
            <a:tailEnd type="none" w="med" len="med"/>
          </a:ln>
        </p:spPr>
      </p:cxnSp>
      <p:cxnSp>
        <p:nvCxn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EE76904-E9F7-4874-96A0-40B2E95352D8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3467100" y="585787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45F"/>
            </a:solidFill>
            <a:prstDash val="solid"/>
            <a:tailEnd type="arrow" w="med" len="med"/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D9CA763-F947-4374-826F-0F2FBF698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50387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21745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1">
                <a:solidFill>
                  <a:srgbClr val="21745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1">
                <a:solidFill>
                  <a:srgbClr val="21745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1">
                <a:solidFill>
                  <a:srgbClr val="21745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1">
                <a:solidFill>
                  <a:srgbClr val="21745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1">
                <a:solidFill>
                  <a:srgbClr val="21745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1">
                <a:solidFill>
                  <a:srgbClr val="21745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1">
                <a:solidFill>
                  <a:srgbClr val="21745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1">
                <a:solidFill>
                  <a:srgbClr val="21745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1">
                <a:solidFill>
                  <a:srgbClr val="2174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174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1745F"/>
                </a:solidFill>
                <a:latin typeface="Microsoft YaHei"/>
                <a:ea typeface="Microsoft YaHei"/>
                <a:cs typeface="Microsoft YaHei"/>
              </a:rPr>
              <a:t>Score / OTEL</a:t>
            </a:r>
          </a:p>
        </p:txBody>
      </p:sp>
      <p:cxnSp>
        <p:nvCxn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2D38E35-920F-4C2F-87EB-E4F5D7271FF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239000" y="5381625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BB"/>
            </a:solidFill>
            <a:prstDash val="solid"/>
            <a:tailEnd type="none" w="med" len="med"/>
          </a:ln>
        </p:spPr>
      </p:cxnSp>
      <p:cxnSp>
        <p:nvCxn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E3B50B7-2919-4440-BA2F-27921E24F762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8191500" y="2143125"/>
            <a:ext cx="0" cy="3238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BB"/>
            </a:solidFill>
            <a:prstDash val="solid"/>
            <a:tailEnd type="none" w="med" len="med"/>
          </a:ln>
        </p:spPr>
      </p:cxnSp>
      <p:cxnSp>
        <p:nvCxn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F24FF0A-AA23-4D20-8864-B086B4F5E8DB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7810500" y="214312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BB"/>
            </a:solidFill>
            <a:prstDash val="solid"/>
            <a:tailEnd type="arrow" w="med" len="med"/>
          </a:ln>
        </p:spPr>
      </p:cxn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34DEBF5-F93E-4E5D-9624-50F4063A9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7432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rPr>
              <a:t>Resolve model_id</a:t>
            </a:r>
          </a:p>
        </p:txBody>
      </p:sp>
    </p:spTree>
    <p:extLst>
      <p:ext uri="{BB962C8B-B14F-4D97-AF65-F5344CB8AC3E}">
        <p14:creationId xmlns:p14="http://schemas.microsoft.com/office/powerpoint/2010/main" val="5070148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17A8AD-019F-4240-83BD-9AAD7A1F9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rPr>
              <a:t>Evaluation Execution 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85B897-8698-4BE0-89FF-24C1CC730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rPr>
              <a:t>One experiment_id connects the runtime, model calls, telemetry and scores.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D1DA23-A723-4991-A641-56E3B6E8C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885950"/>
            <a:ext cx="619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EA9E46-CB1A-47B8-BFEB-92BF44802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1885950"/>
            <a:ext cx="3000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rPr>
              <a:t>Trigger &amp; configure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47BC3A-2DCB-40FE-A912-5FDF8D99B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905000"/>
            <a:ext cx="67056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rPr>
              <a:t>Generate experiment_id and select dataset, model, scorers and runtime.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FBB6E6-8715-44DB-9D54-5E979AD95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24150"/>
            <a:ext cx="619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D0490B-F83D-4215-B731-3FCAE80E5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2724150"/>
            <a:ext cx="3000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rPr>
              <a:t>Start the runtime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14EB44-144A-4C68-B904-A829B7DF0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743200"/>
            <a:ext cx="67056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rPr>
              <a:t>Create an OpenShell sandbox and inject environment variables.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942D78-F29D-4CD1-A072-33FB0E351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562350"/>
            <a:ext cx="619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2E175C-AA44-4568-8CD5-C909F299E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562350"/>
            <a:ext cx="3000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rPr>
              <a:t>Load inputs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CEAD16-042D-4F5B-B0FE-2E40BFEFD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581400"/>
            <a:ext cx="67056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rPr>
              <a:t>Read Dataset from Langfuse and load the scorer library.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2EBD91-2CC8-4796-ACCA-D14A2DF7D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400550"/>
            <a:ext cx="619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E217D6-8960-4B66-BED2-4D627C154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400550"/>
            <a:ext cx="3000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rPr>
              <a:t>Execute &amp; score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F4A633-BE35-4B41-AD2F-214EC6851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419600"/>
            <a:ext cx="67056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rPr>
              <a:t>Target calls the gateways. Scorers compare output with the reference.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D2E511-D457-4453-8220-1715CFA63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238750"/>
            <a:ext cx="619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67C3F4-B4F0-4341-BBD3-2A7671D1B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5238750"/>
            <a:ext cx="3000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rPr>
              <a:t>Publish &amp; clean up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F383EF-D868-49C2-802A-320FFAEBB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257800"/>
            <a:ext cx="67056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rPr>
              <a:t>Send Score and OTEL, return status, then delete the sandbox.</a:t>
            </a:r>
          </a:p>
        </p:txBody>
      </p:sp>
    </p:spTree>
    <p:extLst>
      <p:ext uri="{BB962C8B-B14F-4D97-AF65-F5344CB8AC3E}">
        <p14:creationId xmlns:p14="http://schemas.microsoft.com/office/powerpoint/2010/main" val="10638155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2026-10-20T05:20:14.4600000Z</dcterms:created>
  <dcterms:modified xsi:type="dcterms:W3CDTF">2026-10-20T05:20:14.4600000Z</dcterms:modified>
</coreProperties>
</file>