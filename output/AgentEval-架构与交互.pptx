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059f19bca74c10" /><Relationship Type="http://schemas.openxmlformats.org/officeDocument/2006/relationships/extended-properties" Target="/docProps/app.xml" Id="Reba1a210aa634202" /><Relationship Type="http://schemas.openxmlformats.org/officeDocument/2006/relationships/officeDocument" Target="/ppt/presentation.xml" Id="R037590bdb9e1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32110005a40ac"/>
  </p:sldMasterIdLst>
  <p:notesMasterIdLst>
    <p:notesMasterId xmlns:r="http://schemas.openxmlformats.org/officeDocument/2006/relationships" r:id="R41c8c1ec0c5047b8"/>
  </p:notesMasterIdLst>
  <p:sldIdLst>
    <p:sldId xmlns:r="http://schemas.openxmlformats.org/officeDocument/2006/relationships" id="256" r:id="Rf95f216857db43d7"/>
    <p:sldId xmlns:r="http://schemas.openxmlformats.org/officeDocument/2006/relationships" id="257" r:id="R676d5bb2d81f41ef"/>
    <p:sldId xmlns:r="http://schemas.openxmlformats.org/officeDocument/2006/relationships" id="258" r:id="R15805c545ec1429f"/>
    <p:sldId xmlns:r="http://schemas.openxmlformats.org/officeDocument/2006/relationships" id="259" r:id="Re83b8004ae0141e6"/>
    <p:sldId xmlns:r="http://schemas.openxmlformats.org/officeDocument/2006/relationships" id="260" r:id="Ree43c86ada5545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73ec630b84cfa" /><Relationship Type="http://schemas.openxmlformats.org/officeDocument/2006/relationships/slideMaster" Target="/ppt/slideMasters/slideMaster1.xml" Id="R11132110005a40ac" /><Relationship Type="http://schemas.openxmlformats.org/officeDocument/2006/relationships/notesMaster" Target="/ppt/notesMasters/notesMaster1.xml" Id="R41c8c1ec0c5047b8" /><Relationship Type="http://schemas.openxmlformats.org/officeDocument/2006/relationships/presProps" Target="/ppt/presProps.xml" Id="Rbdf3c3f890a04d85" /><Relationship Type="http://schemas.openxmlformats.org/officeDocument/2006/relationships/tableStyles" Target="/ppt/tableStyles.xml" Id="R4ea4e97ed7b64499" /><Relationship Type="http://schemas.openxmlformats.org/officeDocument/2006/relationships/slide" Target="/ppt/slides/slide1.xml" Id="Rf95f216857db43d7" /><Relationship Type="http://schemas.openxmlformats.org/officeDocument/2006/relationships/slide" Target="/ppt/slides/slide2.xml" Id="R676d5bb2d81f41ef" /><Relationship Type="http://schemas.openxmlformats.org/officeDocument/2006/relationships/slide" Target="/ppt/slides/slide3.xml" Id="R15805c545ec1429f" /><Relationship Type="http://schemas.openxmlformats.org/officeDocument/2006/relationships/slide" Target="/ppt/slides/slide4.xml" Id="Re83b8004ae0141e6" /><Relationship Type="http://schemas.openxmlformats.org/officeDocument/2006/relationships/slide" Target="/ppt/slides/slide5.xml" Id="Ree43c86ada55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54acf4c2b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8018cd1214fc1" /><Relationship Type="http://schemas.openxmlformats.org/officeDocument/2006/relationships/notesMaster" Target="/ppt/notesMasters/notesMaster1.xml" Id="Ra7cfc02f199f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874fdc20c4c2e" /><Relationship Type="http://schemas.openxmlformats.org/officeDocument/2006/relationships/notesMaster" Target="/ppt/notesMasters/notesMaster1.xml" Id="Rff7e7c7ae38b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55fa740984765" /><Relationship Type="http://schemas.openxmlformats.org/officeDocument/2006/relationships/notesMaster" Target="/ppt/notesMasters/notesMaster1.xml" Id="Rc30aad0e8e854f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bd2bc7a3264367" /><Relationship Type="http://schemas.openxmlformats.org/officeDocument/2006/relationships/notesMaster" Target="/ppt/notesMasters/notesMaster1.xml" Id="R90849ec368b3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01252316e4499" /><Relationship Type="http://schemas.openxmlformats.org/officeDocument/2006/relationships/notesMaster" Target="/ppt/notesMasters/notesMaster1.xml" Id="R94022472a287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当前实际运行：WSL 中的 OpenShell Gateway 使用 Docker 计算驱动。Worker 与本地 LLM 代理在同一沙箱内运行。Langfuse 仍由 Docker Compose 部署。前端是独立的模拟界面，未接真实 trigger API。来源：独立后端 docs/openshell-worker.md、docs/llm-proxy.md 以及本次会话的真实运行结果。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EXPERIMENT_ID、EVALUATE_ID、EVALUATION_ID 在当前 runner 中使用同一值。worker 只把 input 发送给 target，标准答案用于 scorer。真实验证使用 mock-score，固定返回 1 分，不是模型质量评估。来源：src/evaluation_backend/openshell_runner.py、worker.py、experiment.py、platforms/langfuse.py。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 LLM 请求都由代理查询后端模型详情。服务商凭据存于后端本地模型注册表，代理按需获取。普通和流式请求均支持，上游统一使用 SSE，以首个非空内容/推理/工具增量记录 TTFT。代理上报请求模型与服务商响应模型。本机 glm-dev 请求 glm-4.7，服务商实际响应 model 字段为 glm-5.3-flash。通过 SDK base URL 接管，写死外部 URL 的代码仍需网络策略约束。来源：src/evaluation_backend/llm_proxy.py、models.py、docs/llm-proxy.md。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 Job 与 OpenShell Kubernetes 沙箱是不同的执行路径。当前 CLI k8s_job 可生成或提交普通 Job。OpenShell Kubernetes Gateway、Agent Sandbox CRD/controller 以及 CNI 前提尚未部署验证。launcher Job 保留父实验 ID 仍待扩展。来源：deploy/kubernetes/README.md、services.yaml、src/evaluation_backend/k8s_job.py。官方参考：https://docs.nvidia.com/openshell/v0.1.4/kubernetes/setup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实测实验 ID：exp-468a9fb028e44ba891b2aee864b87ef6。Langfuse 原生实验 ID：672b6279181519c3。6 条 Dataset 样本、6 条 mock 分数、6 GENERATION、6 EVALUATOR、18 SPAN，回读验证所有 generation 都包含 token usage、TTFT、duration。56 项后端测试通过（K8s Job 工具另有2项测试）。来源：data/openshell-verification.json 与 docs/openshell-worker.md。实验查看：http://localhost:3000/project/cmvff1wer0007pq4ovv9rzusi/datasets/cmvff7e84000dpq4o7rg21lhd/runs/672b6279181519c3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04d8fb54d49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b6783dfe946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c7d415c2b44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c2edf781848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ee74955394e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460589af3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2F5ED-8B53-4436-AD06-96708C75D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EB4F0A-A2B3-49E1-9E21-6E5C8F042C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E22087-4191-4412-9DC0-4A500F1CC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2AC73E-9A93-4DD4-A153-437015C8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9039C8-056D-42EA-8F77-627843C4B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DF6641-3600-45F5-8B49-21A60946B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4E947B-2C28-4DFF-A30E-070F54344D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1C796C-E579-47A9-95DD-342353BD3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3FBE4-39AA-4833-9D0E-490B30FFD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AA85EF-8E69-422C-BCE6-6FBE32FFAB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54121a31d44ee" /><Relationship Type="http://schemas.openxmlformats.org/officeDocument/2006/relationships/slideLayout" Target="/ppt/slideLayouts/slideLayout1.xml" Id="R0ec4f43f629748bf" /><Relationship Type="http://schemas.openxmlformats.org/officeDocument/2006/relationships/slideLayout" Target="/ppt/slideLayouts/slideLayout2.xml" Id="R09846a5a015d4538" /><Relationship Type="http://schemas.openxmlformats.org/officeDocument/2006/relationships/slideLayout" Target="/ppt/slideLayouts/slideLayout3.xml" Id="Rfe929f6636f040d1" /><Relationship Type="http://schemas.openxmlformats.org/officeDocument/2006/relationships/slideLayout" Target="/ppt/slideLayouts/slideLayout4.xml" Id="R47144ce8c6d54e58" /><Relationship Type="http://schemas.openxmlformats.org/officeDocument/2006/relationships/slideLayout" Target="/ppt/slideLayouts/slideLayout5.xml" Id="R0f49593820de4823" /><Relationship Type="http://schemas.openxmlformats.org/officeDocument/2006/relationships/slideLayout" Target="/ppt/slideLayouts/slideLayout6.xml" Id="R71c5d2d6d6e54c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4f43f629748bf"/>
    <p:sldLayoutId xmlns:r="http://schemas.openxmlformats.org/officeDocument/2006/relationships" id="2147483650" r:id="R09846a5a015d4538"/>
    <p:sldLayoutId xmlns:r="http://schemas.openxmlformats.org/officeDocument/2006/relationships" id="2147483651" r:id="Rfe929f6636f040d1"/>
    <p:sldLayoutId xmlns:r="http://schemas.openxmlformats.org/officeDocument/2006/relationships" id="2147483652" r:id="R47144ce8c6d54e58"/>
    <p:sldLayoutId xmlns:r="http://schemas.openxmlformats.org/officeDocument/2006/relationships" id="2147483653" r:id="R0f49593820de4823"/>
    <p:sldLayoutId xmlns:r="http://schemas.openxmlformats.org/officeDocument/2006/relationships" id="2147483654" r:id="R71c5d2d6d6e54c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675c257e24458" /><Relationship Type="http://schemas.openxmlformats.org/officeDocument/2006/relationships/notesSlide" Target="/ppt/notesSlides/notesSlide1.xml" Id="R9e2230b7051c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9568187b74373" /><Relationship Type="http://schemas.openxmlformats.org/officeDocument/2006/relationships/notesSlide" Target="/ppt/notesSlides/notesSlide2.xml" Id="R14f24baf0081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8670617aa4638" /><Relationship Type="http://schemas.openxmlformats.org/officeDocument/2006/relationships/notesSlide" Target="/ppt/notesSlides/notesSlide3.xml" Id="R328dfc1c57c5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37925598945b2" /><Relationship Type="http://schemas.openxmlformats.org/officeDocument/2006/relationships/notesSlide" Target="/ppt/notesSlides/notesSlide4.xml" Id="R6e2948b1aae5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410ae4c814c5e" /><Relationship Type="http://schemas.openxmlformats.org/officeDocument/2006/relationships/notesSlide" Target="/ppt/notesSlides/notesSlide5.xml" Id="R26aa463411914f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6219D-E95A-4E2E-B7F7-95709C675F8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34766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C9161-3BD8-4BD2-8ACB-B00169858F0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990850" y="3476625"/>
            <a:ext cx="12954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AB3F1-A12E-4BDF-8D14-53E90D15F60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00225" y="29527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B9601-8235-4623-9ACF-3E267EB1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当前架构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B7FFA-47CE-4C73-AF40-2267B52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本地 OpenShell 执行链路已跑通，前端 Trigger 仍为模拟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EC826-4017-4D34-B2A2-FD09C23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28031-785D-4B3F-A99B-B75C87D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9813A-D6D9-4477-BA43-0ABD695B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A0A0D-6F77-4FBF-BB44-5A25C839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Runner 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21BA2-2510-432F-934C-D4C02A9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生成 experiment_id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5055E-9F83-46BE-86E7-E7FE9575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9272F-CE11-4512-94A2-2D79E0E6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B3704-2ABC-4D63-9CB1-04D8EE7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创建与清理沙箱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AE20D-E0F3-422D-971B-472522B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449A1-82E3-4669-9C03-3523A7D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384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沙箱内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7FB46-1590-4433-8D36-D6E47482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385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Dataset / Target / Scorer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1E206-611C-4598-B76C-0F40FC5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74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0784A-638C-4F9F-BED4-CE25E03B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38475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2F857-E557-44AF-B226-6909509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38525"/>
            <a:ext cx="2276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Dataset / Score / OTEL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57E21-CCD2-43D3-A92C-BD953DD2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19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注入运行参数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70EA0-B750-491A-898A-435779E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814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C12B5-D98A-4A87-9E7A-5FEA4684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读取 / 上报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0564B-ADD3-4CDA-B2F7-90A446A5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后端 API 提供 model_id 对应配置，LLM 代理负责模型调用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0EEED-F14F-4BD3-9E7B-F96036BC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前端：Evaluation、Datasets、Environments、Scorers、Reports</a:t>
            </a:r>
          </a:p>
        </p:txBody>
      </p:sp>
    </p:spTree>
    <p:extLst>
      <p:ext uri="{BB962C8B-B14F-4D97-AF65-F5344CB8AC3E}">
        <p14:creationId xmlns:p14="http://schemas.microsoft.com/office/powerpoint/2010/main" val="740790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775BB-FBC2-41CF-B9FD-00BCE61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一次测评的执行流程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ACB05-D054-477D-891D-94677B6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一次触发生成一个 experiment_id，贯穿运行环境、OTEL 与评分结果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6A23-F6D1-4A0C-85B7-A9FFAC90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7788-AF14-46C0-A208-263A431B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322A4-04CB-48E9-AB65-BF72A64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8D1E7-8CCF-4B79-98D0-0C049A95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383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触发与参数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A607B-F0C7-435E-A2EC-59E8B6D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生成 ID，确定 Dataset、模型 ID、评分器和执行环境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1B100-5B76-4FF5-B663-3E092143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DEA21-1C15-42BA-A971-9961A09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5747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创建运行环境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C1687-EC3F-45DE-B941-B2E64555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OpenShell 创建沙箱，上传环境配置并启动 worker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369FD-44FD-4F03-A1D7-2172A9CA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A5962-8B06-401D-A919-196A9E1E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766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加载数据与评分器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0AD28-9AB6-48DB-A6AE-EEAFFDA2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956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按 dataset_id 从 Langfuse 读取样本，加载 scorer 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0C398-1E3D-4044-9882-58D22CE1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8B17D-5A2D-4BEA-BE65-F2DF6EBD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9577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逐条执行与评分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D2EEB-EE2C-4224-8B25-25E41215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148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Target 真实调用模型，评分器接收输出与标准答案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B5428-2203-4072-8ED1-828D3176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BCB14-3D85-4774-9F9A-21C8E0F0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149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上报与结束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E924E-C981-4629-9AA2-AFDD5636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发送 Score 和 OTEL，返回状态，成功后自动清理沙箱</a:t>
            </a:r>
          </a:p>
        </p:txBody>
      </p:sp>
    </p:spTree>
    <p:extLst>
      <p:ext uri="{BB962C8B-B14F-4D97-AF65-F5344CB8AC3E}">
        <p14:creationId xmlns:p14="http://schemas.microsoft.com/office/powerpoint/2010/main" val="175930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6BD3E-C10F-41DB-B16A-51A404DC657A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905500" y="3095625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9603B-A792-4E7C-9111-778EFADFA3B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81875" y="2595563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B89D-377A-483C-AF96-70D7BBFA5A0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90850" y="2595563"/>
            <a:ext cx="1438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185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24084-8D08-41EE-8BDC-369E848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LLM 请求代理与遥测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42162-641A-4BB0-B76E-F05298C8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Runner 选择内部模型 ID，后端解析服务商连接配置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92877-3884-48E5-9250-84618A8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D09D5-87DC-4DAB-A261-40B771D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661D8-1597-4D00-A45F-4ECFEE3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890D-730E-42C9-80FD-D5794257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Target / SDK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20E43-7AAD-41C7-B86B-FCBABE4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请求本地 base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0C2E6-C195-46E9-9A30-FA89C61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9CF22-4445-4CEF-B82B-9943ABF5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288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容器内 LLM 代理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A5B1F-5B57-452C-87DA-9F03B06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强制使用 runner 模型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D8C2C-63E7-4B22-8915-FE8ACDCD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AE4CE-13ED-41C0-BA9E-F304F41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1732B-C261-4E37-932F-A8563355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真实推理与流式响应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D8151-36A4-4F12-A30F-2910739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FA521-A0F1-4BEA-AF2E-1EC54B1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386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后端模型解析接口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C3F26-4F5B-4440-B408-74B33B3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38700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address / model /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7B1C8-29E1-4747-9E4C-DC0E9B3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model_id = glm-dev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1B89D-3164-4FF2-93EA-808AEF2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GET /internal/models/{id}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74D92-8E7A-4967-93CF-9E4BDE9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Langfuse GENERATION：请求与输出、Token 用量、首 Token 时间、总耗时</a:t>
            </a:r>
          </a:p>
        </p:txBody>
      </p:sp>
    </p:spTree>
    <p:extLst>
      <p:ext uri="{BB962C8B-B14F-4D97-AF65-F5344CB8AC3E}">
        <p14:creationId xmlns:p14="http://schemas.microsoft.com/office/powerpoint/2010/main" val="409609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ABE65-922A-462B-B4E9-AA06388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Kubernetes 部署路径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1E29F-BEAB-4C14-BE90-6242984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本地集群已 Ready，部署清单与触发工具已准备，尚未实际部署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AE4A0-0841-4319-85EF-B674162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79BD-BAFD-46C0-AF51-820494D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2C1AF-8DFC-453E-913F-B587299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普通测评 Job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781F3-4E46-41D3-898B-3A79F18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91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API：Deployment + Service</a:t>
            </a:r>
          </a:p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配置：ConfigMap + Secret</a:t>
            </a:r>
          </a:p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每次测评：一个 Job 管理执行 Pod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5904A-414C-4750-8EC5-423752B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9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Worker 与 LLM 代理在同一容器内运行</a:t>
            </a:r>
          </a:p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直接 Job 不具备 OpenShell 沙箱边界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6E82A-1334-49CC-9E37-ED8A5E8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954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OpenShell 沙箱 Pod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A9A5A-212C-4BE5-9B30-CCC4DBFB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安装 Gateway 与 Agent Sandbox 控制器</a:t>
            </a:r>
          </a:p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Gateway 管理受控工作负载 Pod</a:t>
            </a:r>
          </a:p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需要验证 NetworkPolicy 实际生效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49B9-F249-46D3-B632-1925BF1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2912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若使用 launcher Job 触发 OpenShell</a:t>
            </a:r>
          </a:p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launcher 与沙箱需要共用父实验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E80E3-74D7-4F6F-B1B9-4004A57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镜像由 Docker 构建，Kubernetes 节点需要能够拉取或加载该镜像</a:t>
            </a:r>
          </a:p>
        </p:txBody>
      </p:sp>
    </p:spTree>
    <p:extLst>
      <p:ext uri="{BB962C8B-B14F-4D97-AF65-F5344CB8AC3E}">
        <p14:creationId xmlns:p14="http://schemas.microsoft.com/office/powerpoint/2010/main" val="1244189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883F7-BEED-416C-B65B-23D623AC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已验证范围与后续接入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A8E4-46BA-46EA-ACD5-DE4E7C3E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OpenShell 真实调用已经完成，当前分数用于验证发送链路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66834-B099-4170-A444-B22DA0A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E8366-E193-4D5C-BBD2-637ACDB1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B208E-7088-4281-944C-DB0A6D0A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FCB56-AD50-4B0C-88CD-C87B3A93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条真实模型请求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21342-3145-48D3-9972-D1A08A2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A2A09-BCB7-463C-80F1-426DBA5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条 mock Score 已入库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AC9B4-449B-48AE-A3AF-1371C27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60A1B-0CC2-41BA-A497-5277733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条遥测共享实验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199C8-E108-448A-B20F-F01BA6B2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3C648-6892-4816-8F29-304F6A5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Dataset 读取、模型配置查询、真实推理、评分发送与沙箱清理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2173E-4984-4B34-A66D-BC8DF4FC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A6727"/>
                </a:solidFill>
                <a:latin typeface="Microsoft YaHei"/>
                <a:ea typeface="Microsoft YaHei"/>
                <a:cs typeface="Microsoft YaHei"/>
              </a:rPr>
              <a:t>后续接入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E2392-AC53-4C3D-A471-14D9BFD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真实评分器、测评触发与状态 API、前端 Trigger、K8s 部署验收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0F261-C828-4945-A799-8F0C156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测试评分器固定返回 1 分，当前结果不代表模型质量</a:t>
            </a:r>
          </a:p>
        </p:txBody>
      </p:sp>
    </p:spTree>
    <p:extLst>
      <p:ext uri="{BB962C8B-B14F-4D97-AF65-F5344CB8AC3E}">
        <p14:creationId xmlns:p14="http://schemas.microsoft.com/office/powerpoint/2010/main" val="1361264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2026-10-20T04:29:49.3710000Z</dcterms:created>
  <dcterms:modified xsi:type="dcterms:W3CDTF">2026-10-20T04:29:49.3710000Z</dcterms:modified>
</coreProperties>
</file>